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25"/>
    <p:restoredTop sz="96327"/>
  </p:normalViewPr>
  <p:slideViewPr>
    <p:cSldViewPr snapToGrid="0" snapToObjects="1">
      <p:cViewPr varScale="1">
        <p:scale>
          <a:sx n="131" d="100"/>
          <a:sy n="131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6D08-01BB-D94B-AFB6-E4BA0DC23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B140A-039D-DB43-ACA0-DB109231C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FE5D-CD71-954C-87CA-5BB8ED1A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9DEC-94EE-A94A-ACDE-A3B9616E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1B637-6E84-8C44-B5F3-CE98CC2F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8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22EF-358C-BE41-A754-B5C6976D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6D66-6D1A-7443-B124-719113BF1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5404F-43C3-0147-A5BE-D54FE353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2BF49-CD31-F746-9D06-697716AF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A226-7F06-9F4D-B071-9472AF3C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9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83D5-21CC-9941-91EB-0274CAB6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C1A20-5B9B-F14D-B307-785BD5C7D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4B2D7-A700-D148-8461-9FD0171D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38394-AB43-354B-B21F-410C5005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FE1DB-8EC3-9F4A-BA22-2FDAB4EA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9D8F-1D8E-874F-B5C6-6782D9E1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BA7D4-03B0-0F44-BB5C-9FECFC29C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7F9A5-C83E-8D41-BD49-9AD36DCCA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FB895-CD5B-6E4C-A486-8A9E652C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19B94-65F5-ED4A-9961-88ABC4C5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09DB4-D7F4-A244-AAB4-0BB37C7A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8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96EB-AE7F-DF41-971F-F9AB34B9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A9969-38D7-9049-A8D7-E9F48825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360AC-8CC8-A241-B220-92D7F59A3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9220B-7080-0947-8F1F-37CD91DDE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E849B-E14B-B54F-9046-2F6CE845D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8F40C-E26B-4C40-972E-11F34764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0C43A5-241D-5646-8A6C-089A919D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B12A6-C77B-394C-A5D1-4B4F59D2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2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16E7-F14A-CA4A-BF07-1F693716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72E73-4968-8B42-80C4-A865F7AF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E557C3-89AF-B14F-AB42-F1BC5335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B23E5-5B32-4940-85CD-9013FF31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4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2B79-6F84-7F43-9225-9E06B32F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941F3-5148-B44C-950F-8479CB2B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97E2-F72E-AD44-940E-1082E1AE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7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27DF-67EC-B94D-BDD3-BC159F41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6BC84-EEBC-9747-9419-229CB2D35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60D05-42FB-F046-A27D-D4627DD4C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E0E2C-6906-C74E-A892-F154EC3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D27AF-EFDA-C54B-8C68-E49F86FE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30F07-A490-1447-9708-80EE79E2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4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1E3C-DFDB-574F-8F9C-6686BFC2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FEB2F-170F-B040-9A62-55FF0804B8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19E80-2C28-7047-9F42-FA03F37F2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02E0B-BD7E-AE40-B7A4-76473DB4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DEBB9-1FE2-F641-8A9A-09E06669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9A469-D01B-CF44-8FEC-EAD9F41D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9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1B71-195C-0B42-885E-1332F15C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54D3D-CD16-B342-B6B2-F4760E320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AE1D-86A4-5740-B7EB-578BA09B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76078-F779-194A-A9E1-5F15EFE4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E088-2284-0F4F-8384-7AF29C9F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0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5DCE8-4FA9-0C48-8D6B-F23466650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B257C-8E6B-8B45-A766-4A53FE907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60D68-8D17-724D-A719-F52C2573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22C72-2E09-464F-93A5-74CD10A7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454C4-4BEE-204D-B195-3BC07A43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2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4B1AE-E7B6-864A-9839-3FE6245A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220BD-7975-4846-94ED-D22106FCD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D6FD1-7958-914B-97BB-A6D2070EE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75EA1-1E07-FE4D-B0FD-EE47786DC28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EAD23-6A30-7B4E-A0DC-A11328869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F31E6-0D65-8E45-B3E2-9DF74F14C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E1AC1-011B-1848-ACF0-00B491C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2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031A-7E39-D4E5-578D-501FE948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 293">
            <a:extLst>
              <a:ext uri="{FF2B5EF4-FFF2-40B4-BE49-F238E27FC236}">
                <a16:creationId xmlns:a16="http://schemas.microsoft.com/office/drawing/2014/main" id="{C8289F8F-1366-342D-4571-DCC1B2508553}"/>
              </a:ext>
            </a:extLst>
          </p:cNvPr>
          <p:cNvGrpSpPr/>
          <p:nvPr/>
        </p:nvGrpSpPr>
        <p:grpSpPr>
          <a:xfrm>
            <a:off x="-92109" y="-4096"/>
            <a:ext cx="12271854" cy="6852184"/>
            <a:chOff x="-92109" y="-4096"/>
            <a:chExt cx="12271854" cy="6852184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30CC9AC-D6EC-C35F-AE2F-5AC4946AB237}"/>
                </a:ext>
              </a:extLst>
            </p:cNvPr>
            <p:cNvSpPr/>
            <p:nvPr/>
          </p:nvSpPr>
          <p:spPr>
            <a:xfrm>
              <a:off x="5107284" y="1213"/>
              <a:ext cx="1755411" cy="646843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521B12B-A2D4-8445-BBA4-AF3F8CABDA56}"/>
                </a:ext>
              </a:extLst>
            </p:cNvPr>
            <p:cNvSpPr/>
            <p:nvPr/>
          </p:nvSpPr>
          <p:spPr>
            <a:xfrm>
              <a:off x="8663059" y="1212"/>
              <a:ext cx="1753533" cy="6465127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BE33A0E-15C5-A7A7-A431-4CDD5D1E4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9192" y="1154130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2199B81-77E0-094D-0528-25DCCA4D43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9192" y="388349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6EE2225-D4AC-9D9D-7266-61FA86CF0F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0977" y="388349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582F3A2-D9F6-2BE4-7EB9-371E7B3335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1279" y="1154130"/>
              <a:ext cx="811785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0B6DF88B-D026-C472-933A-843BCDADDFD4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6905989" y="1940945"/>
              <a:ext cx="1715945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B8EABC7E-56DE-6209-7918-BD1BF2306D69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6875271" y="342480"/>
              <a:ext cx="0" cy="153459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103F8FD-AD30-361B-6536-3B91ACB1313C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6999707" y="711736"/>
              <a:ext cx="1339538" cy="895456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D26840CF-AAE1-A4F0-74BE-D578206290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34389" y="1291265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B8216CA5-50B9-9A6D-8ABC-1EAB0B142B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599" y="1417592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B06F9F19-95FF-D9C1-F249-44BFB74F2F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2378" y="974559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1C658F4-B129-54F0-5047-DECB30B342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63961" y="903258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35E2F21-EF02-8189-DC24-ADA39EDEEB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31603" y="1163754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4526569-EFBA-4636-E36C-2568FA8307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6668" y="753284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594A55C-394F-BA3F-4927-05231B2EC2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0011" y="628631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F3B1678-F82F-0A26-D581-E790BAAF61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32129" y="405884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8BD298AD-821F-5681-D4B7-6BE59174A9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93073" y="503815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EA05353-A171-2008-ECB8-EE89A8348DB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910547" y="-2218"/>
              <a:ext cx="226016" cy="237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D7C6BE2-9CB5-CC85-33AA-252559C8E8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73908" y="1157440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A28B956-664A-9EAE-336F-C26F011F60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73908" y="391659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D82D81A-CFCA-9E7D-42C8-B103FC2354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5694" y="391659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40172F4-0CF3-9532-4DBB-8289008C3C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5995" y="1157440"/>
              <a:ext cx="811785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7C4BCD62-53BB-E036-DDF3-DE71319781E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8690704" y="1944255"/>
              <a:ext cx="171594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57873D4A-573D-2FEA-43A0-D92A7F67C0A5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8659987" y="345790"/>
              <a:ext cx="0" cy="153459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9AC54B7-91A4-A7AE-6D00-8F7C1596F157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8784423" y="715046"/>
              <a:ext cx="1339539" cy="895456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91448060-61F6-0803-44FB-E10A901081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9105" y="1294575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6847DEBF-637B-0425-BBDE-08271EF0C7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17315" y="1420902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DB3B1D8-745C-7CD9-C4A3-06BD2CAA2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57094" y="977869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D6D9491-7473-40D0-ED3E-EE1FDB5245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48677" y="906568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C6E7B8B1-C1FE-44AC-4A18-4575A88A7C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16319" y="1167064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A5E32F62-766E-0727-1F62-7F520F8BB7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51385" y="756594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1F110AC-A46F-64B3-D85B-1EA3ACEC9220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8809410" y="756594"/>
              <a:ext cx="1328473" cy="896350"/>
            </a:xfrm>
            <a:prstGeom prst="line">
              <a:avLst/>
            </a:prstGeom>
            <a:ln w="28575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711D7FA-8CD9-8435-3B53-E6511D05C6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93325" y="1140142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BAFB46ED-1433-F837-A526-E10A6E8429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20026" y="763149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A18CB1AE-7BF6-4604-AE57-6269311A32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53779" y="899239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47162C34-3E9B-82CE-B554-F61040A79E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691650" y="2284"/>
              <a:ext cx="226016" cy="237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E2819319-14EF-05A5-D928-EFEA6BF841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4346" y="1154130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7FBDDD8E-E8F7-91B3-5480-768352F06C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4346" y="388349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A319F56-0422-BD2E-4185-457E751ACB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6132" y="388349"/>
              <a:ext cx="812086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DA11A11F-F216-066C-E45B-213FCD45D8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6433" y="1154130"/>
              <a:ext cx="811785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61654336-15CA-72D7-F6AF-3A489112ED57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5141142" y="1940945"/>
              <a:ext cx="171594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DC1EDA34-3400-CBDF-BBD1-2749C657A5EF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5110425" y="342480"/>
              <a:ext cx="0" cy="153459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21EF8B7-37B5-C2EF-A63F-4690AA413A5A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5234861" y="711736"/>
              <a:ext cx="1339539" cy="895456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412B276-51E2-1A9C-F70B-228242458D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9543" y="1291265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C3211305-9869-88F5-B317-B7932DDF39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67753" y="1417592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26D8ED33-D1BF-60DA-7223-61EA930A22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533" y="974559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0BEC5CC2-2579-F860-2BF1-A3CA3E9C14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115" y="903258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59146B86-E305-4DDB-B3D9-37B6D52AC7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66757" y="1163754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1C1EAEF3-9485-B8C3-0C35-B337F7B016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1823" y="753284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07EEE8BF-5BA5-44F9-77FD-901E332328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3677" y="755555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CE56A7F8-19DF-A424-1679-E8D8FA05DF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7789" y="547154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AEE2595B-78FC-5A49-506C-7AA2B750B2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51336" y="759804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89308E7-3DD8-FA28-E6E6-4AA3ABD38A3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5221525" y="503814"/>
              <a:ext cx="1072088" cy="1087338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D18267B-BFA3-1147-1763-D21BD08A549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41072" y="-4096"/>
              <a:ext cx="226016" cy="237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BE4B512-8617-26E8-E56E-424CCED3E3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8834" y="1095520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8DEC9C8A-5DCD-BF43-1138-A1A2E9F38A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03879" y="793189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B6DA2C17-338A-B974-B011-FB87D63830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8851" y="1031512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6825D66F-A8BF-8DE2-CEBB-FBCDA3F5EB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7006" y="1161798"/>
              <a:ext cx="812085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6B7AA879-66CD-3D37-1A37-90FF8E4BD1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7006" y="396017"/>
              <a:ext cx="812085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2B771C3-42DD-7EB2-E8B3-B05F6D73A2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58790" y="396017"/>
              <a:ext cx="812085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F8A00214-A461-5542-168B-7D8E5C86A6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59091" y="1161798"/>
              <a:ext cx="811783" cy="765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914E6A48-D3D6-4BAE-40B1-978724FB7B8B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463802" y="1948613"/>
              <a:ext cx="1715943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6BDFA6EB-B689-8CC9-2194-354A1E777D81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433085" y="350148"/>
              <a:ext cx="0" cy="153459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ED1A4513-7E54-A882-956E-D34DB6670FE1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557520" y="719404"/>
              <a:ext cx="1339537" cy="895456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D3C8027E-3E73-45F0-11B9-D3A6228D4D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92201" y="1298933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11FB9974-95B5-4E9F-C093-BD72908B54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90412" y="1425260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1646C303-F8E9-CB52-BBEF-41F648E232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30190" y="982227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717FC05-E253-6333-F8B6-D31287554B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21774" y="910926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476472F2-790E-F5D7-07E0-79FCA05CA1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89416" y="1171422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56800B94-71B8-0294-25D1-B667262E11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24481" y="760952"/>
              <a:ext cx="83507" cy="75672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BDB781C0-4C65-764C-3543-C3AF76AE7D92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577942" y="1202961"/>
              <a:ext cx="1429629" cy="539322"/>
            </a:xfrm>
            <a:prstGeom prst="line">
              <a:avLst/>
            </a:prstGeom>
            <a:ln w="285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3578B3FA-9E6D-2232-4DBF-A61E4EADD1D0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550652" y="964047"/>
              <a:ext cx="1409709" cy="666566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6974941-C93F-6270-F576-4C952312821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467623" y="7207"/>
              <a:ext cx="226015" cy="237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D</a:t>
              </a: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46EDC54-764B-7C31-112A-A03403EF24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83539" y="1398616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4FFE610-0DAF-51B8-32D5-ACC0F383A9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29298" y="1579959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724ABD9-287F-7F7D-936B-997741EC00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90190" y="1231213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ADC70D65-E2E5-3253-287C-7E15D1E592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68935" y="1139456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461E58FB-9E21-4207-AF98-4713E06B0E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53047" y="931055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141F1061-3BD7-AC28-40CE-812C34AA59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76594" y="1143706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FA66045-695E-B85C-5818-D7BD81ED2CB4}"/>
                </a:ext>
              </a:extLst>
            </p:cNvPr>
            <p:cNvSpPr/>
            <p:nvPr/>
          </p:nvSpPr>
          <p:spPr>
            <a:xfrm>
              <a:off x="892753" y="2386990"/>
              <a:ext cx="1474349" cy="131700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>
                  <a:solidFill>
                    <a:schemeClr val="tx1"/>
                  </a:solidFill>
                  <a:latin typeface="Helvetica" pitchFamily="2" charset="0"/>
                </a:rPr>
                <a:t>Small colony, Low social complexity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6FB56520-FB71-0136-671B-0011E3113ED0}"/>
                </a:ext>
              </a:extLst>
            </p:cNvPr>
            <p:cNvSpPr/>
            <p:nvPr/>
          </p:nvSpPr>
          <p:spPr>
            <a:xfrm>
              <a:off x="894948" y="1078364"/>
              <a:ext cx="1472154" cy="13081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  <a:latin typeface="Helvetica" pitchFamily="2" charset="0"/>
                </a:rPr>
                <a:t>Large colony, Low social complexity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5F284EB-6031-A0D5-3C11-BF6C6362A311}"/>
                </a:ext>
              </a:extLst>
            </p:cNvPr>
            <p:cNvSpPr/>
            <p:nvPr/>
          </p:nvSpPr>
          <p:spPr>
            <a:xfrm>
              <a:off x="2366680" y="1078364"/>
              <a:ext cx="1472154" cy="13081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  <a:latin typeface="Helvetica" pitchFamily="2" charset="0"/>
                </a:rPr>
                <a:t>Large colony, High social complexity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476B83B-752D-4150-B7DC-64CE2C10FFC7}"/>
                </a:ext>
              </a:extLst>
            </p:cNvPr>
            <p:cNvSpPr/>
            <p:nvPr/>
          </p:nvSpPr>
          <p:spPr>
            <a:xfrm>
              <a:off x="2367101" y="2386990"/>
              <a:ext cx="1469669" cy="130811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r>
                <a:rPr lang="en-US" sz="1200" dirty="0">
                  <a:solidFill>
                    <a:schemeClr val="tx1"/>
                  </a:solidFill>
                  <a:latin typeface="Helvetica" pitchFamily="2" charset="0"/>
                </a:rPr>
                <a:t>Small colony, High social complexity</a:t>
              </a:r>
              <a:endParaRPr lang="en-US" sz="1200" dirty="0">
                <a:latin typeface="Helvetica" pitchFamily="2" charset="0"/>
              </a:endParaRPr>
            </a:p>
          </p:txBody>
        </p: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A2849C20-90C6-E33B-79B4-74E7D5028972}"/>
                </a:ext>
              </a:extLst>
            </p:cNvPr>
            <p:cNvCxnSpPr>
              <a:cxnSpLocks/>
            </p:cNvCxnSpPr>
            <p:nvPr/>
          </p:nvCxnSpPr>
          <p:spPr>
            <a:xfrm>
              <a:off x="956209" y="3717311"/>
              <a:ext cx="3047693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A23B239B-EF41-3C55-50E6-1DA4980FF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875" y="903669"/>
              <a:ext cx="0" cy="273002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5721B77A-4742-99D5-EA71-11B576DFE2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947" y="1611626"/>
              <a:ext cx="2509315" cy="1587531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46523FDB-98F3-7900-6C46-B9FA6081EF56}"/>
                </a:ext>
              </a:extLst>
            </p:cNvPr>
            <p:cNvSpPr/>
            <p:nvPr/>
          </p:nvSpPr>
          <p:spPr>
            <a:xfrm>
              <a:off x="2553799" y="2569026"/>
              <a:ext cx="117125" cy="100448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EECAAA90-21F0-0146-D897-BC652DF6DA87}"/>
                </a:ext>
              </a:extLst>
            </p:cNvPr>
            <p:cNvSpPr/>
            <p:nvPr/>
          </p:nvSpPr>
          <p:spPr>
            <a:xfrm>
              <a:off x="1850001" y="2736713"/>
              <a:ext cx="117125" cy="100448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7F077500-DD61-1441-6F7A-F17459F6BB3C}"/>
                </a:ext>
              </a:extLst>
            </p:cNvPr>
            <p:cNvSpPr/>
            <p:nvPr/>
          </p:nvSpPr>
          <p:spPr>
            <a:xfrm>
              <a:off x="2887597" y="2148627"/>
              <a:ext cx="117125" cy="100448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79679551-B40C-5AFE-2F1C-C555B8E94ABA}"/>
                </a:ext>
              </a:extLst>
            </p:cNvPr>
            <p:cNvSpPr/>
            <p:nvPr/>
          </p:nvSpPr>
          <p:spPr>
            <a:xfrm>
              <a:off x="2455019" y="2053982"/>
              <a:ext cx="117125" cy="100448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1F70C8AB-0B3D-3123-CFC0-96BACFE79D9C}"/>
                </a:ext>
              </a:extLst>
            </p:cNvPr>
            <p:cNvSpPr/>
            <p:nvPr/>
          </p:nvSpPr>
          <p:spPr>
            <a:xfrm>
              <a:off x="1988861" y="2399767"/>
              <a:ext cx="117125" cy="100448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2B3F583D-2783-0840-E3CD-957D94D34AFB}"/>
                </a:ext>
              </a:extLst>
            </p:cNvPr>
            <p:cNvSpPr/>
            <p:nvPr/>
          </p:nvSpPr>
          <p:spPr>
            <a:xfrm>
              <a:off x="2879589" y="1854906"/>
              <a:ext cx="117125" cy="100448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9BD36A21-0E31-A8EF-2AF2-DB8566653C90}"/>
                </a:ext>
              </a:extLst>
            </p:cNvPr>
            <p:cNvSpPr txBox="1"/>
            <p:nvPr/>
          </p:nvSpPr>
          <p:spPr>
            <a:xfrm>
              <a:off x="-92109" y="1955971"/>
              <a:ext cx="10769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Helvetica" pitchFamily="2" charset="0"/>
                </a:rPr>
                <a:t>Colony Size</a:t>
              </a: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E2881422-CAA9-834B-4E3A-CEF8B41D4897}"/>
                </a:ext>
              </a:extLst>
            </p:cNvPr>
            <p:cNvSpPr/>
            <p:nvPr/>
          </p:nvSpPr>
          <p:spPr>
            <a:xfrm>
              <a:off x="1122610" y="4907713"/>
              <a:ext cx="390691" cy="354034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346A1B30-C9CE-4B32-8BA6-1CC845CB4C13}"/>
                </a:ext>
              </a:extLst>
            </p:cNvPr>
            <p:cNvSpPr txBox="1"/>
            <p:nvPr/>
          </p:nvSpPr>
          <p:spPr>
            <a:xfrm>
              <a:off x="1571183" y="4864940"/>
              <a:ext cx="22640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  <a:cs typeface="Times New Roman" panose="02020603050405020304" pitchFamily="18" charset="0"/>
                </a:rPr>
                <a:t>Nonnative Species (unchanged)</a:t>
              </a:r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EEAEADAF-A9CE-B1EB-9FD6-9FE698145004}"/>
                </a:ext>
              </a:extLst>
            </p:cNvPr>
            <p:cNvGrpSpPr/>
            <p:nvPr/>
          </p:nvGrpSpPr>
          <p:grpSpPr>
            <a:xfrm>
              <a:off x="1131508" y="4440739"/>
              <a:ext cx="1601367" cy="354034"/>
              <a:chOff x="1119316" y="5940355"/>
              <a:chExt cx="1601367" cy="354034"/>
            </a:xfrm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AD9C65FC-B70F-F769-A2E1-0713FE1442EE}"/>
                  </a:ext>
                </a:extLst>
              </p:cNvPr>
              <p:cNvSpPr/>
              <p:nvPr/>
            </p:nvSpPr>
            <p:spPr>
              <a:xfrm>
                <a:off x="1119316" y="5940355"/>
                <a:ext cx="390691" cy="354034"/>
              </a:xfrm>
              <a:prstGeom prst="ellipse">
                <a:avLst/>
              </a:prstGeom>
              <a:solidFill>
                <a:schemeClr val="accent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01E7829B-1CA9-E9D7-7EE4-FEFABD11F268}"/>
                  </a:ext>
                </a:extLst>
              </p:cNvPr>
              <p:cNvSpPr txBox="1"/>
              <p:nvPr/>
            </p:nvSpPr>
            <p:spPr>
              <a:xfrm>
                <a:off x="1513301" y="5963484"/>
                <a:ext cx="12073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Native Species</a:t>
                </a:r>
              </a:p>
            </p:txBody>
          </p:sp>
        </p:grp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86DEB33-C4F9-9896-34AF-83B8EB84C10C}"/>
                </a:ext>
              </a:extLst>
            </p:cNvPr>
            <p:cNvSpPr/>
            <p:nvPr/>
          </p:nvSpPr>
          <p:spPr>
            <a:xfrm>
              <a:off x="1119316" y="5359557"/>
              <a:ext cx="390691" cy="354034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4783147C-FF7F-A692-8751-612A04AB2AD6}"/>
                </a:ext>
              </a:extLst>
            </p:cNvPr>
            <p:cNvSpPr txBox="1"/>
            <p:nvPr/>
          </p:nvSpPr>
          <p:spPr>
            <a:xfrm>
              <a:off x="1504183" y="5316910"/>
              <a:ext cx="22640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Nonnative Species (Intercept + Slope change)</a:t>
              </a: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6C93CDC6-0BE9-5322-19A2-DCB698C9247B}"/>
                </a:ext>
              </a:extLst>
            </p:cNvPr>
            <p:cNvSpPr/>
            <p:nvPr/>
          </p:nvSpPr>
          <p:spPr>
            <a:xfrm>
              <a:off x="1119316" y="5807055"/>
              <a:ext cx="390691" cy="354034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E2C3DC8-BF0D-3D43-8324-C23075EA2538}"/>
                </a:ext>
              </a:extLst>
            </p:cNvPr>
            <p:cNvSpPr txBox="1"/>
            <p:nvPr/>
          </p:nvSpPr>
          <p:spPr>
            <a:xfrm>
              <a:off x="1504183" y="5764408"/>
              <a:ext cx="22640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Nonnative Species (Slope change)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83BBBFF2-D2D2-8F31-BE32-75C591C80A27}"/>
                </a:ext>
              </a:extLst>
            </p:cNvPr>
            <p:cNvSpPr txBox="1"/>
            <p:nvPr/>
          </p:nvSpPr>
          <p:spPr>
            <a:xfrm>
              <a:off x="1090477" y="3734190"/>
              <a:ext cx="241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Helvetica" pitchFamily="2" charset="0"/>
                </a:rPr>
                <a:t>Social Complexity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EB94A2F9-63F0-DA2E-C7E0-06E4B0AD050D}"/>
                </a:ext>
              </a:extLst>
            </p:cNvPr>
            <p:cNvSpPr/>
            <p:nvPr/>
          </p:nvSpPr>
          <p:spPr>
            <a:xfrm>
              <a:off x="5257426" y="2146584"/>
              <a:ext cx="1370557" cy="13081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18DF1C21-D0E8-1E78-FCA5-50939ECC5DB4}"/>
                </a:ext>
              </a:extLst>
            </p:cNvPr>
            <p:cNvSpPr/>
            <p:nvPr/>
          </p:nvSpPr>
          <p:spPr>
            <a:xfrm>
              <a:off x="5257426" y="3624465"/>
              <a:ext cx="1370557" cy="13081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D11A6BE1-3A46-E5D2-B10F-C99DEE00027A}"/>
                </a:ext>
              </a:extLst>
            </p:cNvPr>
            <p:cNvSpPr/>
            <p:nvPr/>
          </p:nvSpPr>
          <p:spPr>
            <a:xfrm>
              <a:off x="5257426" y="5102346"/>
              <a:ext cx="1370557" cy="13081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DC40158-F222-D7ED-36BB-26E5F9521C44}"/>
                </a:ext>
              </a:extLst>
            </p:cNvPr>
            <p:cNvSpPr/>
            <p:nvPr/>
          </p:nvSpPr>
          <p:spPr>
            <a:xfrm>
              <a:off x="7030182" y="2146584"/>
              <a:ext cx="1370557" cy="13081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4EFCA2F5-48E4-9FAE-17A6-4926BA4F418C}"/>
                </a:ext>
              </a:extLst>
            </p:cNvPr>
            <p:cNvSpPr/>
            <p:nvPr/>
          </p:nvSpPr>
          <p:spPr>
            <a:xfrm>
              <a:off x="7030182" y="3624465"/>
              <a:ext cx="1370557" cy="13081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303EB8E9-EA58-A14E-AA33-36A05AC02E39}"/>
                </a:ext>
              </a:extLst>
            </p:cNvPr>
            <p:cNvSpPr/>
            <p:nvPr/>
          </p:nvSpPr>
          <p:spPr>
            <a:xfrm>
              <a:off x="7030182" y="5102346"/>
              <a:ext cx="1370557" cy="13081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CA4010A8-C1E0-0616-5544-9ED274096401}"/>
                </a:ext>
              </a:extLst>
            </p:cNvPr>
            <p:cNvSpPr/>
            <p:nvPr/>
          </p:nvSpPr>
          <p:spPr>
            <a:xfrm>
              <a:off x="8797313" y="2143355"/>
              <a:ext cx="1370557" cy="13081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73AF5DC4-23F2-ACF7-DBC8-A816B783BC2E}"/>
                </a:ext>
              </a:extLst>
            </p:cNvPr>
            <p:cNvSpPr/>
            <p:nvPr/>
          </p:nvSpPr>
          <p:spPr>
            <a:xfrm>
              <a:off x="8797313" y="3621236"/>
              <a:ext cx="1370557" cy="13081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B1EE5C3-0EE2-AF36-D3EF-540B84764B6D}"/>
                </a:ext>
              </a:extLst>
            </p:cNvPr>
            <p:cNvSpPr/>
            <p:nvPr/>
          </p:nvSpPr>
          <p:spPr>
            <a:xfrm>
              <a:off x="8797313" y="5099117"/>
              <a:ext cx="1370557" cy="13081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4E216FF3-8190-48CC-C238-42A38187AA2F}"/>
                </a:ext>
              </a:extLst>
            </p:cNvPr>
            <p:cNvSpPr/>
            <p:nvPr/>
          </p:nvSpPr>
          <p:spPr>
            <a:xfrm>
              <a:off x="10571118" y="2143355"/>
              <a:ext cx="1370557" cy="13081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195B428F-DBCB-E9C0-3BF2-B720AF522171}"/>
                </a:ext>
              </a:extLst>
            </p:cNvPr>
            <p:cNvSpPr/>
            <p:nvPr/>
          </p:nvSpPr>
          <p:spPr>
            <a:xfrm>
              <a:off x="10571118" y="3621236"/>
              <a:ext cx="1370557" cy="13081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DBFD6AE4-175A-9406-6892-0771E9A90D95}"/>
                </a:ext>
              </a:extLst>
            </p:cNvPr>
            <p:cNvSpPr/>
            <p:nvPr/>
          </p:nvSpPr>
          <p:spPr>
            <a:xfrm>
              <a:off x="10571118" y="5099117"/>
              <a:ext cx="1370557" cy="13081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229EABE4-ECC1-AA65-E441-8AE79A003A75}"/>
                </a:ext>
              </a:extLst>
            </p:cNvPr>
            <p:cNvSpPr txBox="1"/>
            <p:nvPr/>
          </p:nvSpPr>
          <p:spPr>
            <a:xfrm>
              <a:off x="6358645" y="6478756"/>
              <a:ext cx="43196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Helvetica" pitchFamily="2" charset="0"/>
                </a:rPr>
                <a:t>Assemblage nonnative ant %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99DDB5F-C945-BBEA-CE46-E8624259CB9E}"/>
                </a:ext>
              </a:extLst>
            </p:cNvPr>
            <p:cNvSpPr txBox="1"/>
            <p:nvPr/>
          </p:nvSpPr>
          <p:spPr>
            <a:xfrm>
              <a:off x="4259303" y="2609901"/>
              <a:ext cx="9124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Helvetica" pitchFamily="2" charset="0"/>
                </a:rPr>
                <a:t>Δ</a:t>
              </a:r>
              <a:r>
                <a:rPr lang="en-US" sz="1600" dirty="0">
                  <a:latin typeface="Helvetica" pitchFamily="2" charset="0"/>
                </a:rPr>
                <a:t> Slope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84DF4A99-751E-22AE-A4BD-F1715083250A}"/>
                </a:ext>
              </a:extLst>
            </p:cNvPr>
            <p:cNvSpPr txBox="1"/>
            <p:nvPr/>
          </p:nvSpPr>
          <p:spPr>
            <a:xfrm>
              <a:off x="4139629" y="4106505"/>
              <a:ext cx="9912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Helvetica" pitchFamily="2" charset="0"/>
                </a:rPr>
                <a:t>Δ</a:t>
              </a:r>
              <a:r>
                <a:rPr lang="en-US" sz="1600" dirty="0">
                  <a:latin typeface="Helvetica" pitchFamily="2" charset="0"/>
                </a:rPr>
                <a:t> Intercept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63EDCA9D-6A5C-2510-079A-A396E1DC6E06}"/>
                </a:ext>
              </a:extLst>
            </p:cNvPr>
            <p:cNvSpPr txBox="1"/>
            <p:nvPr/>
          </p:nvSpPr>
          <p:spPr>
            <a:xfrm>
              <a:off x="4409184" y="5603109"/>
              <a:ext cx="6126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Helvetica" pitchFamily="2" charset="0"/>
                </a:rPr>
                <a:t>Δ</a:t>
              </a:r>
              <a:r>
                <a:rPr lang="en-US" sz="1600" dirty="0">
                  <a:latin typeface="Helvetica" pitchFamily="2" charset="0"/>
                </a:rPr>
                <a:t> R</a:t>
              </a:r>
              <a:r>
                <a:rPr lang="en-US" sz="1600" baseline="30000" dirty="0">
                  <a:latin typeface="Helvetica" pitchFamily="2" charset="0"/>
                </a:rPr>
                <a:t>2</a:t>
              </a:r>
              <a:endParaRPr lang="en-US" sz="1600" dirty="0">
                <a:latin typeface="Helvetica" pitchFamily="2" charset="0"/>
              </a:endParaRPr>
            </a:p>
          </p:txBody>
        </p: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FCC2A2A6-5C68-F9D7-87BA-301D143BC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4480" y="2269891"/>
              <a:ext cx="1175160" cy="527523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226F7C7-03A1-FC5D-22DE-FAD04E1B0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2882" y="2430780"/>
              <a:ext cx="1137458" cy="705889"/>
            </a:xfrm>
            <a:prstGeom prst="line">
              <a:avLst/>
            </a:prstGeom>
            <a:ln w="381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2F2865A8-BC97-0672-342D-24DB595951E6}"/>
                </a:ext>
              </a:extLst>
            </p:cNvPr>
            <p:cNvCxnSpPr>
              <a:cxnSpLocks/>
            </p:cNvCxnSpPr>
            <p:nvPr/>
          </p:nvCxnSpPr>
          <p:spPr>
            <a:xfrm>
              <a:off x="5355327" y="4374885"/>
              <a:ext cx="1133854" cy="390873"/>
            </a:xfrm>
            <a:prstGeom prst="line">
              <a:avLst/>
            </a:prstGeom>
            <a:ln w="381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A4CA9936-7C97-E0DF-CA57-8AF4FDFD823F}"/>
                </a:ext>
              </a:extLst>
            </p:cNvPr>
            <p:cNvCxnSpPr>
              <a:cxnSpLocks/>
            </p:cNvCxnSpPr>
            <p:nvPr/>
          </p:nvCxnSpPr>
          <p:spPr>
            <a:xfrm>
              <a:off x="7097630" y="5800436"/>
              <a:ext cx="1210479" cy="554182"/>
            </a:xfrm>
            <a:prstGeom prst="line">
              <a:avLst/>
            </a:prstGeom>
            <a:ln w="381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A7C66BFA-E393-43C1-CF72-1F542E678830}"/>
                </a:ext>
              </a:extLst>
            </p:cNvPr>
            <p:cNvCxnSpPr>
              <a:cxnSpLocks/>
            </p:cNvCxnSpPr>
            <p:nvPr/>
          </p:nvCxnSpPr>
          <p:spPr>
            <a:xfrm>
              <a:off x="8914448" y="2802114"/>
              <a:ext cx="1107007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EDAB984E-5E42-3A5D-7E4B-63E9F8D3C944}"/>
                </a:ext>
              </a:extLst>
            </p:cNvPr>
            <p:cNvCxnSpPr>
              <a:cxnSpLocks/>
            </p:cNvCxnSpPr>
            <p:nvPr/>
          </p:nvCxnSpPr>
          <p:spPr>
            <a:xfrm>
              <a:off x="10693638" y="2865120"/>
              <a:ext cx="1142916" cy="455408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652A668-CF68-C9E2-FEF6-067C970E160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3638" y="2956560"/>
              <a:ext cx="1014350" cy="402432"/>
            </a:xfrm>
            <a:prstGeom prst="line">
              <a:avLst/>
            </a:prstGeom>
            <a:ln w="381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635698C4-E8D0-447B-79E0-7F1211C14E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9270" y="4262888"/>
              <a:ext cx="1151476" cy="12367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79A824EE-2D7B-F539-5882-6F582B5E9761}"/>
                </a:ext>
              </a:extLst>
            </p:cNvPr>
            <p:cNvCxnSpPr>
              <a:cxnSpLocks/>
            </p:cNvCxnSpPr>
            <p:nvPr/>
          </p:nvCxnSpPr>
          <p:spPr>
            <a:xfrm>
              <a:off x="10684192" y="4430955"/>
              <a:ext cx="1142628" cy="263913"/>
            </a:xfrm>
            <a:prstGeom prst="line">
              <a:avLst/>
            </a:prstGeom>
            <a:ln w="381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04CABCC-E47B-C901-8465-2E48B036A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2918" y="503814"/>
              <a:ext cx="1203945" cy="1238469"/>
            </a:xfrm>
            <a:prstGeom prst="line">
              <a:avLst/>
            </a:prstGeom>
            <a:ln w="285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EEF100-C01B-8925-6E37-938E726B6231}"/>
                </a:ext>
              </a:extLst>
            </p:cNvPr>
            <p:cNvSpPr txBox="1"/>
            <p:nvPr/>
          </p:nvSpPr>
          <p:spPr>
            <a:xfrm>
              <a:off x="7315260" y="2056662"/>
              <a:ext cx="771433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E9CE87-2E66-2489-2D74-C8E591E2F4B7}"/>
                </a:ext>
              </a:extLst>
            </p:cNvPr>
            <p:cNvSpPr txBox="1"/>
            <p:nvPr/>
          </p:nvSpPr>
          <p:spPr>
            <a:xfrm>
              <a:off x="7315260" y="3516672"/>
              <a:ext cx="771433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42B810B-D851-136B-F8FC-68C10C688D9C}"/>
                </a:ext>
              </a:extLst>
            </p:cNvPr>
            <p:cNvSpPr>
              <a:spLocks noChangeAspect="1"/>
            </p:cNvSpPr>
            <p:nvPr/>
          </p:nvSpPr>
          <p:spPr>
            <a:xfrm rot="15537930">
              <a:off x="7069269" y="632915"/>
              <a:ext cx="1155911" cy="1172921"/>
            </a:xfrm>
            <a:custGeom>
              <a:avLst/>
              <a:gdLst>
                <a:gd name="connsiteX0" fmla="*/ 0 w 2247544"/>
                <a:gd name="connsiteY0" fmla="*/ 2384277 h 2384277"/>
                <a:gd name="connsiteX1" fmla="*/ 1674975 w 2247544"/>
                <a:gd name="connsiteY1" fmla="*/ 1350236 h 2384277"/>
                <a:gd name="connsiteX2" fmla="*/ 2247544 w 2247544"/>
                <a:gd name="connsiteY2" fmla="*/ 0 h 238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544" h="2384277">
                  <a:moveTo>
                    <a:pt x="0" y="2384277"/>
                  </a:moveTo>
                  <a:cubicBezTo>
                    <a:pt x="650192" y="2065946"/>
                    <a:pt x="1300384" y="1747615"/>
                    <a:pt x="1674975" y="1350236"/>
                  </a:cubicBezTo>
                  <a:cubicBezTo>
                    <a:pt x="2049566" y="952856"/>
                    <a:pt x="2148555" y="476428"/>
                    <a:pt x="2247544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8C9BB84-DE08-8B78-80C1-7444198B345C}"/>
                </a:ext>
              </a:extLst>
            </p:cNvPr>
            <p:cNvSpPr/>
            <p:nvPr/>
          </p:nvSpPr>
          <p:spPr>
            <a:xfrm>
              <a:off x="7041397" y="573437"/>
              <a:ext cx="1327688" cy="1198536"/>
            </a:xfrm>
            <a:custGeom>
              <a:avLst/>
              <a:gdLst>
                <a:gd name="csX0" fmla="*/ 0 w 1327688"/>
                <a:gd name="csY0" fmla="*/ 1198536 h 1198536"/>
                <a:gd name="csX1" fmla="*/ 356461 w 1327688"/>
                <a:gd name="csY1" fmla="*/ 175648 h 1198536"/>
                <a:gd name="csX2" fmla="*/ 769749 w 1327688"/>
                <a:gd name="csY2" fmla="*/ 278970 h 1198536"/>
                <a:gd name="csX3" fmla="*/ 1327688 w 1327688"/>
                <a:gd name="csY3" fmla="*/ 0 h 11985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7688" h="1198536">
                  <a:moveTo>
                    <a:pt x="0" y="1198536"/>
                  </a:moveTo>
                  <a:cubicBezTo>
                    <a:pt x="114085" y="763722"/>
                    <a:pt x="228170" y="328909"/>
                    <a:pt x="356461" y="175648"/>
                  </a:cubicBezTo>
                  <a:cubicBezTo>
                    <a:pt x="484752" y="22387"/>
                    <a:pt x="607878" y="308245"/>
                    <a:pt x="769749" y="278970"/>
                  </a:cubicBezTo>
                  <a:cubicBezTo>
                    <a:pt x="931620" y="249695"/>
                    <a:pt x="1129654" y="124847"/>
                    <a:pt x="1327688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24DA56C-EF80-2A62-0EB3-73158C849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84529" y="1477850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7E6EA0B-C8D7-63D1-0774-C5EC4911C7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19316" y="1660560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0B8A7BD-34C7-929C-1BA7-7C331D0AF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63494" y="520897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100D2F-4DEB-FB45-615E-FFD9D3630B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41657" y="579487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468D9BF-7194-CEAC-9B34-09EBDB2D24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08442" y="804211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9EAC939-231B-3EBD-AC42-7DCD290024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3684" y="987607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FCF4D7A-5FB2-57C4-D09E-67FDEBD2F5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5015" y="1201999"/>
              <a:ext cx="83507" cy="7567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1E59613-D1DF-4BF1-93F8-72FDA086781C}"/>
                </a:ext>
              </a:extLst>
            </p:cNvPr>
            <p:cNvCxnSpPr>
              <a:cxnSpLocks/>
              <a:stCxn id="250" idx="1"/>
              <a:endCxn id="250" idx="3"/>
            </p:cNvCxnSpPr>
            <p:nvPr/>
          </p:nvCxnSpPr>
          <p:spPr>
            <a:xfrm>
              <a:off x="5257426" y="2800643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B675E0-4EB7-D60C-7C22-29E0EDA5558A}"/>
                </a:ext>
              </a:extLst>
            </p:cNvPr>
            <p:cNvCxnSpPr>
              <a:cxnSpLocks/>
            </p:cNvCxnSpPr>
            <p:nvPr/>
          </p:nvCxnSpPr>
          <p:spPr>
            <a:xfrm>
              <a:off x="5254080" y="4283286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3F44293-2306-39BE-3B33-FC6576E61BDD}"/>
                </a:ext>
              </a:extLst>
            </p:cNvPr>
            <p:cNvCxnSpPr>
              <a:cxnSpLocks/>
            </p:cNvCxnSpPr>
            <p:nvPr/>
          </p:nvCxnSpPr>
          <p:spPr>
            <a:xfrm>
              <a:off x="5254080" y="5766524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0ACE7AD-B0F7-3DCB-AE23-55BC1F3527E8}"/>
                </a:ext>
              </a:extLst>
            </p:cNvPr>
            <p:cNvCxnSpPr>
              <a:cxnSpLocks/>
            </p:cNvCxnSpPr>
            <p:nvPr/>
          </p:nvCxnSpPr>
          <p:spPr>
            <a:xfrm>
              <a:off x="7030182" y="5769657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689933-4CBD-5ABC-5934-A86BB3DCE437}"/>
                </a:ext>
              </a:extLst>
            </p:cNvPr>
            <p:cNvCxnSpPr>
              <a:cxnSpLocks/>
              <a:stCxn id="256" idx="1"/>
              <a:endCxn id="256" idx="3"/>
            </p:cNvCxnSpPr>
            <p:nvPr/>
          </p:nvCxnSpPr>
          <p:spPr>
            <a:xfrm>
              <a:off x="8797313" y="2797414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EF1FE2F-50E9-D8CB-4ED5-C1EC4FF5000B}"/>
                </a:ext>
              </a:extLst>
            </p:cNvPr>
            <p:cNvCxnSpPr>
              <a:cxnSpLocks/>
              <a:stCxn id="259" idx="1"/>
              <a:endCxn id="259" idx="3"/>
            </p:cNvCxnSpPr>
            <p:nvPr/>
          </p:nvCxnSpPr>
          <p:spPr>
            <a:xfrm>
              <a:off x="10571118" y="2797414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6960951-BF7B-7D79-608B-9F64DD9C486A}"/>
                </a:ext>
              </a:extLst>
            </p:cNvPr>
            <p:cNvCxnSpPr>
              <a:cxnSpLocks/>
            </p:cNvCxnSpPr>
            <p:nvPr/>
          </p:nvCxnSpPr>
          <p:spPr>
            <a:xfrm>
              <a:off x="8797313" y="5753508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599EB1D-DDF3-6EC0-43C0-3A216591E19A}"/>
                </a:ext>
              </a:extLst>
            </p:cNvPr>
            <p:cNvCxnSpPr>
              <a:cxnSpLocks/>
            </p:cNvCxnSpPr>
            <p:nvPr/>
          </p:nvCxnSpPr>
          <p:spPr>
            <a:xfrm>
              <a:off x="8797313" y="4278524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219A538-BFED-DC02-D06C-91ACF77730E1}"/>
                </a:ext>
              </a:extLst>
            </p:cNvPr>
            <p:cNvCxnSpPr>
              <a:cxnSpLocks/>
            </p:cNvCxnSpPr>
            <p:nvPr/>
          </p:nvCxnSpPr>
          <p:spPr>
            <a:xfrm>
              <a:off x="10557534" y="4278524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13AC8A7-BDAA-70DC-0FA9-BC695BBFF0FA}"/>
                </a:ext>
              </a:extLst>
            </p:cNvPr>
            <p:cNvCxnSpPr>
              <a:cxnSpLocks/>
            </p:cNvCxnSpPr>
            <p:nvPr/>
          </p:nvCxnSpPr>
          <p:spPr>
            <a:xfrm>
              <a:off x="8929087" y="4278524"/>
              <a:ext cx="1107007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0DA8BB7-6728-0F09-AA63-183CBC1A0EE9}"/>
                </a:ext>
              </a:extLst>
            </p:cNvPr>
            <p:cNvCxnSpPr>
              <a:cxnSpLocks/>
            </p:cNvCxnSpPr>
            <p:nvPr/>
          </p:nvCxnSpPr>
          <p:spPr>
            <a:xfrm>
              <a:off x="8929086" y="5756672"/>
              <a:ext cx="1107007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174CA4FF-A80E-4B31-340D-8C04393EAEB3}"/>
                </a:ext>
              </a:extLst>
            </p:cNvPr>
            <p:cNvCxnSpPr>
              <a:cxnSpLocks/>
            </p:cNvCxnSpPr>
            <p:nvPr/>
          </p:nvCxnSpPr>
          <p:spPr>
            <a:xfrm>
              <a:off x="5389320" y="4284521"/>
              <a:ext cx="1112148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832DA01-766B-B87C-8A2F-38F7AFAE0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4890" y="5751799"/>
              <a:ext cx="1151476" cy="12367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DFE440A7-2FDF-A327-A3A8-36495D3DFF06}"/>
                </a:ext>
              </a:extLst>
            </p:cNvPr>
            <p:cNvCxnSpPr>
              <a:cxnSpLocks/>
            </p:cNvCxnSpPr>
            <p:nvPr/>
          </p:nvCxnSpPr>
          <p:spPr>
            <a:xfrm>
              <a:off x="5333468" y="5787983"/>
              <a:ext cx="1154736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737091EA-F5EB-F0B6-7C11-0932923064E7}"/>
                </a:ext>
              </a:extLst>
            </p:cNvPr>
            <p:cNvCxnSpPr>
              <a:cxnSpLocks/>
            </p:cNvCxnSpPr>
            <p:nvPr/>
          </p:nvCxnSpPr>
          <p:spPr>
            <a:xfrm>
              <a:off x="10602034" y="5753272"/>
              <a:ext cx="137055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49574A7F-2E06-5336-7722-89FC37B59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2844" y="5738547"/>
              <a:ext cx="1151476" cy="12367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370B20EC-AA11-CCB4-48B1-EF7FAB91BA30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422" y="5774731"/>
              <a:ext cx="1154736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940E893A-66EB-1F86-C94C-5985330A515B}"/>
                </a:ext>
              </a:extLst>
            </p:cNvPr>
            <p:cNvSpPr txBox="1"/>
            <p:nvPr/>
          </p:nvSpPr>
          <p:spPr>
            <a:xfrm>
              <a:off x="2028965" y="55182"/>
              <a:ext cx="2773965" cy="3693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Including nonnative species</a:t>
              </a:r>
            </a:p>
          </p:txBody>
        </p:sp>
        <p:sp>
          <p:nvSpPr>
            <p:cNvPr id="291" name="Bent Arrow 290">
              <a:extLst>
                <a:ext uri="{FF2B5EF4-FFF2-40B4-BE49-F238E27FC236}">
                  <a16:creationId xmlns:a16="http://schemas.microsoft.com/office/drawing/2014/main" id="{0EB55145-B0F5-28DE-7320-7BDAA3B69FDE}"/>
                </a:ext>
              </a:extLst>
            </p:cNvPr>
            <p:cNvSpPr/>
            <p:nvPr/>
          </p:nvSpPr>
          <p:spPr>
            <a:xfrm>
              <a:off x="2287975" y="524692"/>
              <a:ext cx="2551477" cy="533207"/>
            </a:xfrm>
            <a:prstGeom prst="ben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617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29269</TotalTime>
  <Words>68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Ohyama,Leo</dc:creator>
  <cp:lastModifiedBy>Ohyama,Leo</cp:lastModifiedBy>
  <cp:revision>35</cp:revision>
  <dcterms:created xsi:type="dcterms:W3CDTF">2023-04-28T19:08:36Z</dcterms:created>
  <dcterms:modified xsi:type="dcterms:W3CDTF">2026-04-20T13:56:18Z</dcterms:modified>
</cp:coreProperties>
</file>